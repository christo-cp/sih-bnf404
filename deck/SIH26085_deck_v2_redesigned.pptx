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1F4E79"/>
                </a:solidFill>
                <a:latin typeface="Garamond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11480" y="2057400"/>
            <a:ext cx="2880360" cy="5669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2130552"/>
            <a:ext cx="26974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rial"/>
              </a:rPr>
              <a:t>SIH26085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2761488"/>
            <a:ext cx="53949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Problem Statement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127248"/>
            <a:ext cx="5623560" cy="10241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73555"/>
                </a:solidFill>
                <a:latin typeface="Arial"/>
              </a:rPr>
              <a:t>Urban Flood Nowcasting System
(Drainage and Rainfall Coupling)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297680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Theme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72768" y="4297680"/>
            <a:ext cx="356616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Disaster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45152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PS Category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72768" y="4645152"/>
            <a:ext cx="18288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Software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5010912"/>
            <a:ext cx="10972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Team 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72768" y="5010912"/>
            <a:ext cx="34747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Arial"/>
              </a:rPr>
              <a:t>[ENTER REGISTERED TEAM ID]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376672"/>
            <a:ext cx="114300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5F6B73"/>
                </a:solidFill>
                <a:latin typeface="Arial"/>
              </a:rPr>
              <a:t>Team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768" y="5376672"/>
            <a:ext cx="420624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  <a:latin typeface="Arial"/>
              </a:rPr>
              <a:t>[ENTER REGISTERED TEAM NAME]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349240"/>
            <a:ext cx="4069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5F6B73"/>
                </a:solidFill>
                <a:latin typeface="Arial"/>
              </a:rPr>
              <a:t>From “How much rain?” → “Where will water accumulate?”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502920" y="1335024"/>
            <a:ext cx="11201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73555"/>
                </a:solidFill>
                <a:latin typeface="Arial"/>
              </a:rPr>
              <a:t>URBAN FLOOD NOWCASTING SYSTEM  •  Drainage + Rainfall Coupling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502920" y="1627632"/>
            <a:ext cx="11201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50" b="1">
                <a:solidFill>
                  <a:srgbClr val="5F6B73"/>
                </a:solidFill>
                <a:latin typeface="Arial"/>
              </a:rPr>
              <a:t>A coupled rainfall + drainage model forecasts street-level flooding before it becomes visible.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0292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50292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66751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1  RAINFALL INPUT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66751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IMD nowcast or historical replay
Common grid for simulation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41732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0070C0"/>
                </a:solidFill>
                <a:latin typeface="Arial"/>
              </a:rPr>
              <a:t>↓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333756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333756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350215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2  URBAN RESPONSE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350215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DEM + imperviousness
Rain → runoff → surface flow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25196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8064A2"/>
                </a:solidFill>
                <a:latin typeface="Arial"/>
              </a:rPr>
              <a:t>↓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617220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617220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F27A1A"/>
          </a:solidFill>
          <a:ln>
            <a:solidFill>
              <a:srgbClr val="F27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633679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3  DRAINAGE COUPLING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633679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Drainage graph + hydraulic capacity
Surcharge / backflow detection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708660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27A1A"/>
                </a:solidFill>
                <a:latin typeface="Arial"/>
              </a:rPr>
              <a:t>↓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9006840" y="1947672"/>
            <a:ext cx="2514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Rounded Rectangle 15379"/>
          <p:cNvSpPr/>
          <p:nvPr/>
        </p:nvSpPr>
        <p:spPr>
          <a:xfrm>
            <a:off x="9006840" y="1947672"/>
            <a:ext cx="73152" cy="162763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TextBox 15380"/>
          <p:cNvSpPr txBox="1"/>
          <p:nvPr/>
        </p:nvSpPr>
        <p:spPr>
          <a:xfrm>
            <a:off x="9171432" y="2039112"/>
            <a:ext cx="2258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3555"/>
                </a:solidFill>
                <a:latin typeface="Arial"/>
              </a:rPr>
              <a:t>4  ACTIONABLE OUTPUT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9171432" y="2350008"/>
            <a:ext cx="2258568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20" b="0">
                <a:solidFill>
                  <a:srgbClr val="5F6B73"/>
                </a:solidFill>
                <a:latin typeface="Arial"/>
              </a:rPr>
              <a:t>0–180 min flood-depth ranges
Risk streets + flood-safe routes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9921240" y="3593592"/>
            <a:ext cx="685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E7D32"/>
                </a:solidFill>
                <a:latin typeface="Arial"/>
              </a:rPr>
              <a:t>↓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594360" y="3886200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CURRENT GAP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3566160" y="3886200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OUR MECHANISM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7315200" y="388620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F6B73"/>
                </a:solidFill>
                <a:latin typeface="Arial"/>
              </a:rPr>
              <a:t>OPERATIONAL OUTCOME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502920" y="4178808"/>
            <a:ext cx="27432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50292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667512" y="4270248"/>
            <a:ext cx="24871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667512" y="4581144"/>
            <a:ext cx="24871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Rainfall alone
does not locate flooding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3429000" y="4178808"/>
            <a:ext cx="361188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2" name="Rounded Rectangle 15391"/>
          <p:cNvSpPr/>
          <p:nvPr/>
        </p:nvSpPr>
        <p:spPr>
          <a:xfrm>
            <a:off x="342900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3593592" y="4270248"/>
            <a:ext cx="3355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3593592" y="4581144"/>
            <a:ext cx="335584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Couple runoff + terrain +
drainage capacity/surcharge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7269480" y="4178808"/>
            <a:ext cx="434340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6" name="Rounded Rectangle 15395"/>
          <p:cNvSpPr/>
          <p:nvPr/>
        </p:nvSpPr>
        <p:spPr>
          <a:xfrm>
            <a:off x="7269480" y="4178808"/>
            <a:ext cx="73152" cy="1024128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7434072" y="4270248"/>
            <a:ext cx="40873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" b="1">
                <a:solidFill>
                  <a:srgbClr val="173555"/>
                </a:solidFill>
                <a:latin typeface="Arial"/>
              </a:rPr>
              <a:t/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7434072" y="4581144"/>
            <a:ext cx="4087368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5F6B73"/>
                </a:solidFill>
                <a:latin typeface="Arial"/>
              </a:rPr>
              <a:t>See which streets flood,
how deep, and when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594360" y="5394960"/>
            <a:ext cx="10789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F4E79"/>
                </a:solidFill>
                <a:latin typeface="Arial"/>
              </a:rPr>
              <a:t>USP  •  Predict the behaviour of the city’s water system — not just the rain forecast.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11292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F6B73"/>
                </a:solidFill>
                <a:latin typeface="Arial"/>
              </a:rPr>
              <a:t>Rainfall  →  Runoff  →  Surface Flow  →  Drainage  →  Flood Depth  →  Decision Support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s3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1709928"/>
            <a:ext cx="457200" cy="4572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502920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RAINFALL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02920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IMD / Replay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130552" y="2075688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350008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7" name="Picture 17416" descr="s3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084" y="1709928"/>
            <a:ext cx="457200" cy="45720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2395728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RUNOFF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395728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SCS-CN / Rational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023360" y="2075688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42816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s3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0892" y="1709928"/>
            <a:ext cx="457200" cy="45720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4288536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SURFACE FLOW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288536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DEM + CA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916168" y="2075688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35624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7" name="Picture 17426" descr="s3_R2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0" y="1709928"/>
            <a:ext cx="457200" cy="45720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6181344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DRAINAGE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181344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PySWMM / GNN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808976" y="2075688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028432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2" name="Picture 17431" descr="s3_R2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6508" y="1709928"/>
            <a:ext cx="457200" cy="45720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8074152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FLOOD DEPTH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074152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Surface + Drainage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701784" y="2075688"/>
            <a:ext cx="219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070C0"/>
                </a:solidFill>
                <a:latin typeface="Arial"/>
              </a:rPr>
              <a:t>→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9921240" y="1572768"/>
            <a:ext cx="1673352" cy="137160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7" name="Picture 17436" descr="s3_R2C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9316" y="1709928"/>
            <a:ext cx="457200" cy="45720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9966960" y="2359152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73555"/>
                </a:solidFill>
                <a:latin typeface="Arial"/>
              </a:rPr>
              <a:t>GIS + ROUTING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9966960" y="2624328"/>
            <a:ext cx="15819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F6B73"/>
                </a:solidFill>
                <a:latin typeface="Arial"/>
              </a:rPr>
              <a:t>MapLibre + A*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57200" y="31272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73555"/>
                </a:solidFill>
                <a:latin typeface="Arial"/>
              </a:rPr>
              <a:t>DATA LAYER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57200" y="3401568"/>
            <a:ext cx="2720340" cy="347472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502920" y="3401568"/>
            <a:ext cx="26289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DEM / terrain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3314700" y="3401568"/>
            <a:ext cx="2720340" cy="347472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3360420" y="3401568"/>
            <a:ext cx="26289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Land cover / imperviousness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172200" y="3401568"/>
            <a:ext cx="2720340" cy="347472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217920" y="3401568"/>
            <a:ext cx="26289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Drainage graph / capacity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9029700" y="3401568"/>
            <a:ext cx="2720340" cy="347472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9075420" y="3401568"/>
            <a:ext cx="26289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Historical flood labels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57200" y="3977639"/>
            <a:ext cx="35935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0" name="Picture 17449" descr="s3_R3C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" y="4183379"/>
            <a:ext cx="502920" cy="502920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1325880" y="4178807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3555"/>
                </a:solidFill>
                <a:latin typeface="Arial"/>
              </a:rPr>
              <a:t>MVP MODEL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325880" y="4507992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Physics-first — no black-box claims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4306824" y="3977639"/>
            <a:ext cx="35935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7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4" name="Picture 17453" descr="s3_R3C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2564" y="4183379"/>
            <a:ext cx="502920" cy="50292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5175504" y="4178807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3555"/>
                </a:solidFill>
                <a:latin typeface="Arial"/>
              </a:rPr>
              <a:t>FAST INFERENCE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175504" y="4507992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GNN surrogate, validated vs. SWMM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156448" y="3977639"/>
            <a:ext cx="359359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8" name="Picture 17457" descr="s3_R3C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2188" y="4183379"/>
            <a:ext cx="502920" cy="502920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9025128" y="4178807"/>
            <a:ext cx="2633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73555"/>
                </a:solidFill>
                <a:latin typeface="Arial"/>
              </a:rPr>
              <a:t>OUTPUT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025128" y="4507992"/>
            <a:ext cx="2633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4 depth bands + road risk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57200" y="5440680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73555"/>
                </a:solidFill>
                <a:latin typeface="Arial"/>
              </a:rPr>
              <a:t>ESSENTIAL</a:t>
            </a:r>
          </a:p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73555"/>
                </a:solidFill>
                <a:latin typeface="Arial"/>
              </a:rPr>
              <a:t>STACK</a:t>
            </a:r>
          </a:p>
        </p:txBody>
      </p:sp>
      <p:sp>
        <p:nvSpPr>
          <p:cNvPr id="17462" name="Rounded Rectangle 17461"/>
          <p:cNvSpPr/>
          <p:nvPr/>
        </p:nvSpPr>
        <p:spPr>
          <a:xfrm>
            <a:off x="1828800" y="5440680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1874519" y="5440680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Python + FastAPI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5181599" y="5440680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5227319" y="5440680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React + MapLibre GL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8534399" y="5440680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8580120" y="5440680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PostgreSQL + PostGIS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1828800" y="5843016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1874519" y="5843016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GeoPandas + Rasterio</a:t>
            </a:r>
          </a:p>
        </p:txBody>
      </p:sp>
      <p:sp>
        <p:nvSpPr>
          <p:cNvPr id="17470" name="Rounded Rectangle 17469"/>
          <p:cNvSpPr/>
          <p:nvPr/>
        </p:nvSpPr>
        <p:spPr>
          <a:xfrm>
            <a:off x="5181599" y="5843016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5227319" y="5843016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PySWMM + NetworkX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8534399" y="5843016"/>
            <a:ext cx="3215639" cy="329184"/>
          </a:xfrm>
          <a:prstGeom prst="roundRect">
            <a:avLst>
              <a:gd name="adj" fmla="val 25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8580120" y="5843016"/>
            <a:ext cx="312419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173555"/>
                </a:solidFill>
                <a:latin typeface="Arial"/>
              </a:rPr>
              <a:t>PyTorch Geometric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207008"/>
            <a:ext cx="11292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F6B73"/>
                </a:solidFill>
                <a:latin typeface="Arial"/>
              </a:rPr>
              <a:t>Bounded MVP  —  one ward, explicit fallbacks, honest validation limits.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536192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2" name="Picture 17411" descr="s4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1741931"/>
            <a:ext cx="502920" cy="50292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325880" y="1700784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DATA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325880" y="2194560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F6B73"/>
                </a:solidFill>
                <a:latin typeface="Arial"/>
              </a:rPr>
              <a:t>Public DEM + land cover; historical replay fallback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06824" y="1536192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6" name="Picture 17415" descr="s4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1741931"/>
            <a:ext cx="502920" cy="50292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5175504" y="1700784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MODEL FEASIBILITY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5175504" y="2194560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F6B73"/>
                </a:solidFill>
                <a:latin typeface="Arial"/>
              </a:rPr>
              <a:t>Single-ward scope keeps the model tractable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156448" y="1536192"/>
            <a:ext cx="3593592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0" name="Picture 17419" descr="s4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2188" y="1741931"/>
            <a:ext cx="502920" cy="50292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9025128" y="1700784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DEPLOYMENT FEASIBILITY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9025128" y="2194560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F6B73"/>
                </a:solidFill>
                <a:latin typeface="Arial"/>
              </a:rPr>
              <a:t>Web GIS dashboard + API — no hardware needed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276148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73555"/>
                </a:solidFill>
                <a:latin typeface="Arial"/>
              </a:rPr>
              <a:t>KEY RISKS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57200" y="3035808"/>
            <a:ext cx="11292840" cy="658368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5" name="Picture 17424" descr="s4_R2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59" y="3136391"/>
            <a:ext cx="457200" cy="4572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600200" y="3127248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Drainage data gaps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343400" y="3127248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Approximate when municipal data is missing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9829800" y="3127248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1">
                <a:solidFill>
                  <a:srgbClr val="C62828"/>
                </a:solidFill>
                <a:latin typeface="Arial"/>
              </a:rPr>
              <a:t>Synthetic ≠ municipal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3803904"/>
            <a:ext cx="11292840" cy="658368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0" name="Picture 17429" descr="s4_R2C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3904488"/>
            <a:ext cx="457200" cy="45720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1600200" y="3895344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No live rainfall feed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343400" y="3895344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Historical replay is the deterministic fallback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829800" y="3895344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1">
                <a:solidFill>
                  <a:srgbClr val="C62828"/>
                </a:solidFill>
                <a:latin typeface="Arial"/>
              </a:rPr>
              <a:t>Demo mode is explicit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4572000"/>
            <a:ext cx="11292840" cy="658368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5" name="Picture 17434" descr="s4_R2C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59" y="4672584"/>
            <a:ext cx="457200" cy="45720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600200" y="4663440"/>
            <a:ext cx="2651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Validation scarcity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343400" y="466344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Validate vs. NRSC / historical overlays when available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9829800" y="46634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1">
                <a:solidFill>
                  <a:srgbClr val="C62828"/>
                </a:solidFill>
                <a:latin typeface="Arial"/>
              </a:rPr>
              <a:t>Targets ≠ achieved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457200" y="5440680"/>
            <a:ext cx="5486400" cy="621792"/>
          </a:xfrm>
          <a:prstGeom prst="roundRect">
            <a:avLst>
              <a:gd name="adj" fmla="val 15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s4_R3C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5522976"/>
            <a:ext cx="457200" cy="45720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280160" y="551383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COST PRINCIPLE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280160" y="5760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8E3EC"/>
                </a:solidFill>
                <a:latin typeface="Arial"/>
              </a:rPr>
              <a:t>Open-source core + public data + modest inference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6263640" y="5440680"/>
            <a:ext cx="5486400" cy="621792"/>
          </a:xfrm>
          <a:prstGeom prst="roundRect">
            <a:avLst>
              <a:gd name="adj" fmla="val 15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4" name="Picture 17443" descr="s4_R3C2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2240" y="5522976"/>
            <a:ext cx="457200" cy="45720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7086600" y="5513832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SCALE PATH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086600" y="57607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D8E3EC"/>
                </a:solidFill>
                <a:latin typeface="Arial"/>
              </a:rPr>
              <a:t>Ward → City → State → multi-city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170432"/>
            <a:ext cx="11292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5F6B73"/>
                </a:solidFill>
                <a:latin typeface="Arial"/>
              </a:rPr>
              <a:t>Not another map — earlier, safer, more targeted decisions.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5361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Arial"/>
              </a:rPr>
              <a:t>BEFORE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520440" y="1536192"/>
            <a:ext cx="2651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Arial"/>
              </a:rPr>
              <a:t>AFTER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57200" y="1828800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F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3520440" y="1828800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s5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1956816"/>
            <a:ext cx="457200" cy="4572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600200" y="1828800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Arial"/>
              </a:rPr>
              <a:t>Rainfall known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3108960" y="2066543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3555"/>
                </a:solidFill>
                <a:latin typeface="Arial"/>
              </a:rPr>
              <a:t>→</a:t>
            </a:r>
          </a:p>
        </p:txBody>
      </p:sp>
      <p:pic>
        <p:nvPicPr>
          <p:cNvPr id="17418" name="Picture 17417" descr="s5_R2C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956816"/>
            <a:ext cx="457200" cy="45720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4663440" y="1828800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Arial"/>
              </a:rPr>
              <a:t>Flood locations forecast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57200" y="2670048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F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520440" y="2670048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2" name="Picture 17421" descr="s5_R1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798064"/>
            <a:ext cx="457200" cy="457200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1600200" y="2670048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Arial"/>
              </a:rPr>
              <a:t>Manual / reactive checks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108960" y="290779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3555"/>
                </a:solidFill>
                <a:latin typeface="Arial"/>
              </a:rPr>
              <a:t>→</a:t>
            </a:r>
          </a:p>
        </p:txBody>
      </p:sp>
      <p:pic>
        <p:nvPicPr>
          <p:cNvPr id="17425" name="Picture 17424" descr="s5_R2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2798064"/>
            <a:ext cx="457200" cy="4572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663440" y="2670048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Arial"/>
              </a:rPr>
              <a:t>Automated risk prioritization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3511296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F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3520440" y="3511296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s5_R1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3639311"/>
            <a:ext cx="457200" cy="45720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1600200" y="3511296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Arial"/>
              </a:rPr>
              <a:t>Static road status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3108960" y="3749039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3555"/>
                </a:solidFill>
                <a:latin typeface="Arial"/>
              </a:rPr>
              <a:t>→</a:t>
            </a:r>
          </a:p>
        </p:txBody>
      </p:sp>
      <p:pic>
        <p:nvPicPr>
          <p:cNvPr id="17432" name="Picture 17431" descr="s5_R2C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200" y="3639311"/>
            <a:ext cx="457200" cy="457200"/>
          </a:xfrm>
          <a:prstGeom prst="rect">
            <a:avLst/>
          </a:prstGeom>
        </p:spPr>
      </p:pic>
      <p:sp>
        <p:nvSpPr>
          <p:cNvPr id="17433" name="TextBox 17432"/>
          <p:cNvSpPr txBox="1"/>
          <p:nvPr/>
        </p:nvSpPr>
        <p:spPr>
          <a:xfrm>
            <a:off x="4663440" y="3511296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Arial"/>
              </a:rPr>
              <a:t>Flood-aware routing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57200" y="4352544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F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3520440" y="4352544"/>
            <a:ext cx="2651760" cy="713232"/>
          </a:xfrm>
          <a:prstGeom prst="roundRect">
            <a:avLst>
              <a:gd name="adj" fmla="val 15000"/>
            </a:avLst>
          </a:prstGeom>
          <a:solidFill>
            <a:srgbClr val="EA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s5_R1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4480559"/>
            <a:ext cx="457200" cy="457200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600200" y="4352544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62828"/>
                </a:solidFill>
                <a:latin typeface="Arial"/>
              </a:rPr>
              <a:t>City-wide warning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3108960" y="45902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73555"/>
                </a:solidFill>
                <a:latin typeface="Arial"/>
              </a:rPr>
              <a:t>→</a:t>
            </a:r>
          </a:p>
        </p:txBody>
      </p:sp>
      <p:pic>
        <p:nvPicPr>
          <p:cNvPr id="17439" name="Picture 17438" descr="s5_R2C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6200" y="4480559"/>
            <a:ext cx="457200" cy="457200"/>
          </a:xfrm>
          <a:prstGeom prst="rect">
            <a:avLst/>
          </a:prstGeom>
        </p:spPr>
      </p:pic>
      <p:sp>
        <p:nvSpPr>
          <p:cNvPr id="17440" name="TextBox 17439"/>
          <p:cNvSpPr txBox="1"/>
          <p:nvPr/>
        </p:nvSpPr>
        <p:spPr>
          <a:xfrm>
            <a:off x="4663440" y="4352544"/>
            <a:ext cx="1463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E7D32"/>
                </a:solidFill>
                <a:latin typeface="Arial"/>
              </a:rPr>
              <a:t>Street / segment-level action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355080" y="1828800"/>
            <a:ext cx="2514600" cy="3236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6583680" y="19659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WHO BENEFITS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583680" y="2331720"/>
            <a:ext cx="2103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Flood managers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Emergency services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Traffic / transit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Citizens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Urban planners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9052560" y="1828800"/>
            <a:ext cx="2651760" cy="3236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8064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928116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3555"/>
                </a:solidFill>
                <a:latin typeface="Arial"/>
              </a:rPr>
              <a:t>WHAT WE MEASURE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281160" y="2331720"/>
            <a:ext cx="2286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Warning lead time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Depth accuracy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Inundation match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Road coverage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5F6B73"/>
                </a:solidFill>
                <a:latin typeface="Arial"/>
              </a:rPr>
              <a:t>•  Route risk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57200" y="5230368"/>
            <a:ext cx="2697480" cy="621792"/>
          </a:xfrm>
          <a:prstGeom prst="roundRect">
            <a:avLst>
              <a:gd name="adj" fmla="val 50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48" name="Picture 17447" descr="s5_R3C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7" y="5312664"/>
            <a:ext cx="457200" cy="457200"/>
          </a:xfrm>
          <a:prstGeom prst="rect">
            <a:avLst/>
          </a:prstGeom>
        </p:spPr>
      </p:pic>
      <p:sp>
        <p:nvSpPr>
          <p:cNvPr id="17449" name="TextBox 17448"/>
          <p:cNvSpPr txBox="1"/>
          <p:nvPr/>
        </p:nvSpPr>
        <p:spPr>
          <a:xfrm>
            <a:off x="1143000" y="5230368"/>
            <a:ext cx="1920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SMARTER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337560" y="5230368"/>
            <a:ext cx="2697480" cy="621792"/>
          </a:xfrm>
          <a:prstGeom prst="roundRect">
            <a:avLst>
              <a:gd name="adj" fmla="val 50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1" name="Picture 17450" descr="s5_R3C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93008" y="5312664"/>
            <a:ext cx="457200" cy="457200"/>
          </a:xfrm>
          <a:prstGeom prst="rect">
            <a:avLst/>
          </a:prstGeom>
        </p:spPr>
      </p:pic>
      <p:sp>
        <p:nvSpPr>
          <p:cNvPr id="17452" name="TextBox 17451"/>
          <p:cNvSpPr txBox="1"/>
          <p:nvPr/>
        </p:nvSpPr>
        <p:spPr>
          <a:xfrm>
            <a:off x="4023360" y="5230368"/>
            <a:ext cx="1920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FASTER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6217920" y="5230368"/>
            <a:ext cx="2697480" cy="621792"/>
          </a:xfrm>
          <a:prstGeom prst="roundRect">
            <a:avLst>
              <a:gd name="adj" fmla="val 50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4" name="Picture 17453" descr="s5_R3C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3368" y="5312664"/>
            <a:ext cx="457200" cy="45720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6903720" y="5230368"/>
            <a:ext cx="1920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SAFER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9098280" y="5230368"/>
            <a:ext cx="2697480" cy="621792"/>
          </a:xfrm>
          <a:prstGeom prst="roundRect">
            <a:avLst>
              <a:gd name="adj" fmla="val 50000"/>
            </a:avLst>
          </a:prstGeom>
          <a:solidFill>
            <a:srgbClr val="17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s5_R3C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53728" y="5312664"/>
            <a:ext cx="457200" cy="457200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9784080" y="5230368"/>
            <a:ext cx="19202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STRONGER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COMMUNITIES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57200" y="5980176"/>
            <a:ext cx="11292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F6B73"/>
                </a:solidFill>
                <a:latin typeface="Arial"/>
              </a:rPr>
              <a:t>All figures are targets until validated on event-level data.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pPr eaLnBrk="1" hangingPunct="1" algn="ctr"/>
            <a:r>
              <a:rPr sz="3600" b="1">
                <a:solidFill>
                  <a:srgbClr val="1F4E79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30352" y="1353312"/>
            <a:ext cx="11109960" cy="475488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658368" y="1463040"/>
            <a:ext cx="108356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60" b="1">
                <a:solidFill>
                  <a:srgbClr val="173555"/>
                </a:solidFill>
                <a:latin typeface="Arial"/>
              </a:rPr>
              <a:t>SIH26085  |  Ministry of Earth Sciences  |  Disaster Management  |  Software  |  Urban Flood Nowcasting System (Drainage and Rainfall Coupling)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66928" y="205740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PROBLEM / DATA EVIDENCE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6172200" y="2057400"/>
            <a:ext cx="5440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F6B73"/>
                </a:solidFill>
                <a:latin typeface="Arial"/>
              </a:rPr>
              <a:t>METHOD / PRIOR ART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2414016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548640" y="2414016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13232" y="2505456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SIH 2026 problem listing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13232" y="2816352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https://sih2026.vuce.in/ps/SIH26085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48640" y="2980944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548640" y="2980944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13232" y="3072384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Google Flood Hub – model scope &amp; urban flash flood beta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13232" y="3383280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support.google.com/flood-hub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48640" y="3547872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48640" y="3547872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713232" y="3639312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ISRO / CWC River Basin Atlas &amp; water-resource datasets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713232" y="3950208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isro.gov.in / indiawris.gov.in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48640" y="4114800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548640" y="4114800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13232" y="4206240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USGS SRTM / global DEM data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13232" y="4517136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earthexplorer.usgs.gov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48640" y="4681728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548640" y="4681728"/>
            <a:ext cx="73152" cy="475488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13232" y="4773168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OpenCity Chennai – stormwater drainage maps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13232" y="5084064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opencity.in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172200" y="2414016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6172200" y="2414016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336792" y="2505456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EPA SWMM – drainage hydraulics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336792" y="2816352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github.com/USEPA/Stormwater-Management-Model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72200" y="2980944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2980944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6336792" y="3072384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PySWMM – Python SWMM interface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336792" y="3383280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github.com/pyswmm/pyswmm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172200" y="3547872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ounded Rectangle 17442"/>
          <p:cNvSpPr/>
          <p:nvPr/>
        </p:nvSpPr>
        <p:spPr>
          <a:xfrm>
            <a:off x="6172200" y="3547872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6336792" y="3639312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HybridUrb – hybrid urban flood modelling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336792" y="3950208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github.com/xldeltares/hybridurb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6172200" y="4114800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ounded Rectangle 17446"/>
          <p:cNvSpPr/>
          <p:nvPr/>
        </p:nvSpPr>
        <p:spPr>
          <a:xfrm>
            <a:off x="6172200" y="4114800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336792" y="4206240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FloodGNN-GRU – spatio-temporal flood prediction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336792" y="4517136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2024 research literature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6172200" y="4681728"/>
            <a:ext cx="53218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4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ounded Rectangle 17450"/>
          <p:cNvSpPr/>
          <p:nvPr/>
        </p:nvSpPr>
        <p:spPr>
          <a:xfrm>
            <a:off x="6172200" y="4681728"/>
            <a:ext cx="73152" cy="475488"/>
          </a:xfrm>
          <a:prstGeom prst="roundRect">
            <a:avLst>
              <a:gd name="adj" fmla="val 12000"/>
            </a:avLst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6336792" y="4773168"/>
            <a:ext cx="506577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1">
                <a:solidFill>
                  <a:srgbClr val="173555"/>
                </a:solidFill>
                <a:latin typeface="Arial"/>
              </a:rPr>
              <a:t>GNN surrogate modelling – urban drainage hydraulics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336792" y="5084064"/>
            <a:ext cx="5065776" cy="182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69" b="0">
                <a:solidFill>
                  <a:srgbClr val="5F6B73"/>
                </a:solidFill>
                <a:latin typeface="Arial"/>
              </a:rPr>
              <a:t>2024 Water Research literature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548640" y="5285232"/>
            <a:ext cx="10954512" cy="548640"/>
          </a:xfrm>
          <a:prstGeom prst="roundRect">
            <a:avLst>
              <a:gd name="adj" fmla="val 12000"/>
            </a:avLst>
          </a:prstGeom>
          <a:solidFill>
            <a:srgbClr val="F3F7FA"/>
          </a:solidFill>
          <a:ln>
            <a:solidFill>
              <a:srgbClr val="D9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94944" y="5367528"/>
            <a:ext cx="106527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80" b="1">
                <a:solidFill>
                  <a:srgbClr val="173555"/>
                </a:solidFill>
                <a:latin typeface="Arial"/>
              </a:rPr>
              <a:t>Research basis from supplied project analysis: SCS Curve Number • Rational Method • Manning • SWMM • GNN drainage surrogates • cellular-automata surface routing.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548640" y="5897880"/>
            <a:ext cx="1095451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5F6B73"/>
                </a:solidFill>
                <a:latin typeface="Arial"/>
              </a:rPr>
              <a:t>References/URLs are provided for verification; the deck does not claim unvalidated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