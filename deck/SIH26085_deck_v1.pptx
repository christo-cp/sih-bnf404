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1F4E79"/>
                </a:solidFill>
                <a:latin typeface="Garamond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11480" y="2057400"/>
            <a:ext cx="2880360" cy="5669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130552"/>
            <a:ext cx="2697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SIH26085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2761488"/>
            <a:ext cx="5394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Problem Statement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127248"/>
            <a:ext cx="56235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73555"/>
                </a:solidFill>
                <a:latin typeface="Arial"/>
              </a:rPr>
              <a:t>Urban Flood Nowcasting System
(Drainage and Rainfall Coupling)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297680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Theme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2768" y="4297680"/>
            <a:ext cx="3566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Disaster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45152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PS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64515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10912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Team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2768" y="5010912"/>
            <a:ext cx="34747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Arial"/>
              </a:rPr>
              <a:t>[ENTER REGISTERED TEAM ID]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76672"/>
            <a:ext cx="11430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Team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5376672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Arial"/>
              </a:rPr>
              <a:t>[ENTER REGISTERED TEAM NAME]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349240"/>
            <a:ext cx="4069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F6B73"/>
                </a:solidFill>
                <a:latin typeface="Arial"/>
              </a:rPr>
              <a:t>From “How much rain?” → “Where will water accumulate?”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335024"/>
            <a:ext cx="11201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73555"/>
                </a:solidFill>
                <a:latin typeface="Arial"/>
              </a:rPr>
              <a:t>URBAN FLOOD NOWCASTING SYSTEM  •  Drainage + Rainfall Coupling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627632"/>
            <a:ext cx="11201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5F6B73"/>
                </a:solidFill>
                <a:latin typeface="Arial"/>
              </a:rPr>
              <a:t>A coupled rainfall + drainage model forecasts street-level flooding before it becomes visible.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6751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1  RAINFALL INPUT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6751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IMD nowcast or historical replay
Common grid for simulation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41732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33756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333756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350215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2  URBAN RESPONSE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50215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DEM + imperviousness
Rain → runoff → surface flow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25196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8064A2"/>
                </a:solidFill>
                <a:latin typeface="Arial"/>
              </a:rPr>
              <a:t>↓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17220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617220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F27A1A"/>
          </a:solidFill>
          <a:ln>
            <a:solidFill>
              <a:srgbClr val="F2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633679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3  DRAINAGE COUPLING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33679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Drainage graph + hydraulic capacity
Surcharge / backflow detection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708660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27A1A"/>
                </a:solidFill>
                <a:latin typeface="Arial"/>
              </a:rPr>
              <a:t>↓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900684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900684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917143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4  ACTIONABLE OUTPUT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917143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0–180 min flood-depth ranges
Risk streets + flood-safe routes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92124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Arial"/>
              </a:rPr>
              <a:t>↓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94360" y="388620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CURRENT GAP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3566160" y="3886200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OUR MECHANISM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315200" y="388620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OPERATIONAL OUTCOME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02920" y="4178808"/>
            <a:ext cx="27432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50292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667512" y="4270248"/>
            <a:ext cx="2487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67512" y="4581144"/>
            <a:ext cx="24871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Rainfall alone
does not locate flooding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3429000" y="4178808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342900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3593592" y="4270248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3593592" y="4581144"/>
            <a:ext cx="33558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Couple runoff + terrain +
drainage capacity/surcharge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7269480" y="4178808"/>
            <a:ext cx="43434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ounded Rectangle 15395"/>
          <p:cNvSpPr/>
          <p:nvPr/>
        </p:nvSpPr>
        <p:spPr>
          <a:xfrm>
            <a:off x="726948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7434072" y="4270248"/>
            <a:ext cx="4087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7434072" y="4581144"/>
            <a:ext cx="40873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See which streets flood,
how deep, and when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594360" y="53949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F4E79"/>
                </a:solidFill>
                <a:latin typeface="Arial"/>
              </a:rPr>
              <a:t>USP  •  Predict the behaviour of the city’s water system — not just the rain forecast.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325880"/>
            <a:ext cx="10972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5F6B73"/>
                </a:solidFill>
                <a:latin typeface="Arial"/>
              </a:rPr>
              <a:t>Rainfall input → runoff → surface flow → drainage hydraulics → flood depth → decision support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RAINFALL
IMD / REPLAY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2167128" y="2404872"/>
            <a:ext cx="210312" cy="0"/>
          </a:xfrm>
          <a:prstGeom prst="line">
            <a:avLst/>
          </a:prstGeom>
          <a:ln w="29209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2194560" y="2203704"/>
            <a:ext cx="164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70C0"/>
                </a:solidFill>
                <a:latin typeface="Arial"/>
              </a:rPr>
              <a:t>›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42316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249631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RUNOFF
SCS-CN / Rational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087368" y="2404872"/>
            <a:ext cx="210312" cy="0"/>
          </a:xfrm>
          <a:prstGeom prst="line">
            <a:avLst/>
          </a:prstGeom>
          <a:ln w="29209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114800" y="2203704"/>
            <a:ext cx="164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8064A2"/>
                </a:solidFill>
                <a:latin typeface="Arial"/>
              </a:rPr>
              <a:t>›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34340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F2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41655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SURFACE FLOW
DEM + CA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6007608" y="2404872"/>
            <a:ext cx="210312" cy="0"/>
          </a:xfrm>
          <a:prstGeom prst="line">
            <a:avLst/>
          </a:prstGeom>
          <a:ln w="29209">
            <a:solidFill>
              <a:srgbClr val="F2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6035040" y="2203704"/>
            <a:ext cx="164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27A1A"/>
                </a:solidFill>
                <a:latin typeface="Arial"/>
              </a:rPr>
              <a:t>›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6364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33679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DRAINAGE
PySWMM / GNN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7927848" y="2404872"/>
            <a:ext cx="210311" cy="0"/>
          </a:xfrm>
          <a:prstGeom prst="line">
            <a:avLst/>
          </a:prstGeom>
          <a:ln w="29209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7955279" y="2203704"/>
            <a:ext cx="164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rial"/>
              </a:rPr>
              <a:t>›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18388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25703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FLOOD DEPTH
Surface + drainage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9848088" y="2404872"/>
            <a:ext cx="210312" cy="0"/>
          </a:xfrm>
          <a:prstGeom prst="line">
            <a:avLst/>
          </a:prstGeom>
          <a:ln w="29209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9875520" y="2203704"/>
            <a:ext cx="164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Arial"/>
              </a:rPr>
              <a:t>›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104120" y="1847088"/>
            <a:ext cx="1664208" cy="1124712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10177272" y="2020824"/>
            <a:ext cx="1517904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73555"/>
                </a:solidFill>
                <a:latin typeface="Arial"/>
              </a:rPr>
              <a:t>GIS + ROUTING
MapLibre + A*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48640" y="3346704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DATA LAYER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48640" y="3675887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594360" y="3685031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73555"/>
                </a:solidFill>
                <a:latin typeface="Arial"/>
              </a:rPr>
              <a:t>DEM / terrain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154680" y="3675887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200400" y="3685031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73555"/>
                </a:solidFill>
                <a:latin typeface="Arial"/>
              </a:rPr>
              <a:t>Land cover / imperviousness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760720" y="3675887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5806440" y="3685031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73555"/>
                </a:solidFill>
                <a:latin typeface="Arial"/>
              </a:rPr>
              <a:t>Drainage graph / capacity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366760" y="3675887"/>
            <a:ext cx="233172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412480" y="3685031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73555"/>
                </a:solidFill>
                <a:latin typeface="Arial"/>
              </a:rPr>
              <a:t>Historical flood labels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48640" y="4187952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548640" y="4187952"/>
            <a:ext cx="73152" cy="1051560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713232" y="4279392"/>
            <a:ext cx="3401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MVP MODEL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13232" y="4590288"/>
            <a:ext cx="3401568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Physics-first: runoff + surface routing + simplified drainage hydraulics. No black-box flood claim.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434840" y="4187952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4434840" y="4187952"/>
            <a:ext cx="73152" cy="1051560"/>
          </a:xfrm>
          <a:prstGeom prst="roundRect">
            <a:avLst>
              <a:gd name="adj" fmla="val 12000"/>
            </a:avLst>
          </a:prstGeom>
          <a:solidFill>
            <a:srgbClr val="F27A1A"/>
          </a:solidFill>
          <a:ln>
            <a:solidFill>
              <a:srgbClr val="F2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4599431" y="4279392"/>
            <a:ext cx="31729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FAST INFERENCE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599431" y="4590288"/>
            <a:ext cx="3172968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3"/>
                </a:solidFill>
                <a:latin typeface="Arial"/>
              </a:rPr>
              <a:t>GNN surrogate is an acceleration path for repeated drainage scenarios; validate against SWMM-generated references.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8092440" y="4187952"/>
            <a:ext cx="3520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ounded Rectangle 17450"/>
          <p:cNvSpPr/>
          <p:nvPr/>
        </p:nvSpPr>
        <p:spPr>
          <a:xfrm>
            <a:off x="8092440" y="4187952"/>
            <a:ext cx="73152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8257031" y="4279392"/>
            <a:ext cx="32644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OUTPUT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257031" y="4590288"/>
            <a:ext cx="3264408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3"/>
                </a:solidFill>
                <a:latin typeface="Arial"/>
              </a:rPr>
              <a:t>Depth bands: 0–10 cm / 10–30 cm / 30–50 cm / &gt;50 cm + road risk.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48640" y="5413248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ESSENTIAL STACK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1783080" y="5358384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1828800" y="5367528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Python + FastAPI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5029200" y="5358384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5074920" y="5367528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React + MapLibre GL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275319" y="5358384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321040" y="5367528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PostgreSQL + PostGIS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1783080" y="5742432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1828800" y="57515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GeoPandas + Rasterio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5029200" y="5742432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5074920" y="57515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PySWMM + NetworkX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275319" y="5742432"/>
            <a:ext cx="2926080" cy="310896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8321040" y="5751576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30" b="1">
                <a:solidFill>
                  <a:srgbClr val="173555"/>
                </a:solidFill>
                <a:latin typeface="Arial"/>
              </a:rPr>
              <a:t>PyTorch Geometric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325880"/>
            <a:ext cx="111556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5F6B73"/>
                </a:solidFill>
                <a:latin typeface="Arial"/>
              </a:rPr>
              <a:t>The MVP is intentionally bounded: one ward, explicit fallbacks, honest validation limits.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691640"/>
            <a:ext cx="36118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6916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67512" y="1783080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3555"/>
                </a:solidFill>
                <a:latin typeface="Arial"/>
              </a:rPr>
              <a:t>DATA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2093976"/>
            <a:ext cx="335584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Public DEM + land-cover sources; OSM/OpenCity where available. Use historical replay when a live feed is unavailable.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1691640"/>
            <a:ext cx="36118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297680" y="16916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462272" y="1783080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3555"/>
                </a:solidFill>
                <a:latin typeface="Arial"/>
              </a:rPr>
              <a:t>MODEL FEASIBILITY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462272" y="2093976"/>
            <a:ext cx="335584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Single-ward MVP keeps the coupled model tractable: SCS-CN + cellular automata + simplified PySWMM.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92440" y="1691640"/>
            <a:ext cx="36118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092440" y="1691640"/>
            <a:ext cx="73152" cy="11887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257031" y="1783080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3555"/>
                </a:solidFill>
                <a:latin typeface="Arial"/>
              </a:rPr>
              <a:t>DEPLOYMENT FEASIBILITY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257031" y="2093976"/>
            <a:ext cx="335584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Web GIS dashboard + API. No hardware dependency for the core software prototype.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94360" y="306324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KEY RISK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749039" y="306324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WHY IT MATTERS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92240" y="306324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MITIGATION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01200" y="306324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DEMO TRUTH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502920" y="3392424"/>
            <a:ext cx="288036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566928" y="3447288"/>
            <a:ext cx="27523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1">
                <a:solidFill>
                  <a:srgbClr val="173555"/>
                </a:solidFill>
                <a:latin typeface="Arial"/>
              </a:rPr>
              <a:t>Drainage data gaps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611880" y="3392424"/>
            <a:ext cx="260604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675888" y="3447288"/>
            <a:ext cx="24780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1">
                <a:solidFill>
                  <a:srgbClr val="5F6B73"/>
                </a:solidFill>
                <a:latin typeface="Arial"/>
              </a:rPr>
              <a:t>Real topology/capacity may be unavailable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6309360" y="3392424"/>
            <a:ext cx="297180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6373368" y="3447288"/>
            <a:ext cx="284378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1">
                <a:solidFill>
                  <a:srgbClr val="5F6B73"/>
                </a:solidFill>
                <a:latin typeface="Arial"/>
              </a:rPr>
              <a:t>Use OpenCity/municipal GIS when possible; otherwise label approximation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9418320" y="3392424"/>
            <a:ext cx="278892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9482328" y="3447288"/>
            <a:ext cx="2660903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1">
                <a:solidFill>
                  <a:srgbClr val="C62828"/>
                </a:solidFill>
                <a:latin typeface="Arial"/>
              </a:rPr>
              <a:t>Synthetic ≠ municipal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502920" y="4014215"/>
            <a:ext cx="288036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66928" y="4069079"/>
            <a:ext cx="27523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173555"/>
                </a:solidFill>
                <a:latin typeface="Arial"/>
              </a:rPr>
              <a:t>No live rainfall feed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611880" y="4014215"/>
            <a:ext cx="260604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675888" y="4069079"/>
            <a:ext cx="24780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5F6B73"/>
                </a:solidFill>
                <a:latin typeface="Arial"/>
              </a:rPr>
              <a:t>Nowcasting cannot depend on an unavailable API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309360" y="4014215"/>
            <a:ext cx="297180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373368" y="4069079"/>
            <a:ext cx="284378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5F6B73"/>
                </a:solidFill>
                <a:latin typeface="Arial"/>
              </a:rPr>
              <a:t>Historical replay is the deterministic fallback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9418320" y="4014215"/>
            <a:ext cx="278892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9482328" y="4069079"/>
            <a:ext cx="2660903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1F4E79"/>
                </a:solidFill>
                <a:latin typeface="Arial"/>
              </a:rPr>
              <a:t>Demo mode is explicit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502920" y="4636008"/>
            <a:ext cx="288036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66928" y="4690872"/>
            <a:ext cx="275234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173555"/>
                </a:solidFill>
                <a:latin typeface="Arial"/>
              </a:rPr>
              <a:t>Validation scarcity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3611880" y="4636008"/>
            <a:ext cx="260604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3675888" y="4690872"/>
            <a:ext cx="24780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5F6B73"/>
                </a:solidFill>
                <a:latin typeface="Arial"/>
              </a:rPr>
              <a:t>Depth claims need ground truth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6309360" y="4636008"/>
            <a:ext cx="297180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373368" y="4690872"/>
            <a:ext cx="284378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5F6B73"/>
                </a:solidFill>
                <a:latin typeface="Arial"/>
              </a:rPr>
              <a:t>Use NRSC/historical event overlays + error metrics when labels exist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9418320" y="4636008"/>
            <a:ext cx="2788920" cy="512064"/>
          </a:xfrm>
          <a:prstGeom prst="rect">
            <a:avLst/>
          </a:prstGeom>
          <a:solidFill>
            <a:srgbClr val="F3F7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9482328" y="4690872"/>
            <a:ext cx="2660903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80" b="0">
                <a:solidFill>
                  <a:srgbClr val="1F4E79"/>
                </a:solidFill>
                <a:latin typeface="Arial"/>
              </a:rPr>
              <a:t>Targets ≠ achieved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548640" y="5285232"/>
            <a:ext cx="5257800" cy="50292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658368" y="5358384"/>
            <a:ext cx="5029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>
                <a:solidFill>
                  <a:srgbClr val="173555"/>
                </a:solidFill>
                <a:latin typeface="Arial"/>
              </a:rPr>
              <a:t>COST PRINCIPLE  •  Open-source core + public data + modest cloud/local inference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016752" y="5285232"/>
            <a:ext cx="5596128" cy="50292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126480" y="5358384"/>
            <a:ext cx="53766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>
                <a:solidFill>
                  <a:srgbClr val="173555"/>
                </a:solidFill>
                <a:latin typeface="Arial"/>
              </a:rPr>
              <a:t>SCALE PATH  •  Ward → City → State → multi-city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66928" y="1344168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3555"/>
                </a:solidFill>
                <a:latin typeface="Arial"/>
              </a:rPr>
              <a:t>The value is not another map — it is earlier, safer and more targeted decisions.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94360" y="1856231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Arial"/>
              </a:rPr>
              <a:t>BEFORE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88920" y="1856231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rial"/>
              </a:rPr>
              <a:t>AFTER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2221992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FDF1F1"/>
          </a:solidFill>
          <a:ln>
            <a:solidFill>
              <a:srgbClr val="F0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04088" y="2276856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C62828"/>
                </a:solidFill>
                <a:latin typeface="Arial"/>
              </a:rPr>
              <a:t>Rainfall known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496312" y="227685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→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88920" y="2221992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EEF7EF"/>
          </a:solidFill>
          <a:ln>
            <a:solidFill>
              <a:srgbClr val="CF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898648" y="2276856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Arial"/>
              </a:rPr>
              <a:t>Flood locations forecast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2825496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FDF1F1"/>
          </a:solidFill>
          <a:ln>
            <a:solidFill>
              <a:srgbClr val="F0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704088" y="2880360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C62828"/>
                </a:solidFill>
                <a:latin typeface="Arial"/>
              </a:rPr>
              <a:t>Manual / reactive checks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496312" y="2880360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→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788920" y="2825496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EEF7EF"/>
          </a:solidFill>
          <a:ln>
            <a:solidFill>
              <a:srgbClr val="CF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2898648" y="2880360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Arial"/>
              </a:rPr>
              <a:t>Automated risk prioritization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3429000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FDF1F1"/>
          </a:solidFill>
          <a:ln>
            <a:solidFill>
              <a:srgbClr val="F0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704088" y="3483864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C62828"/>
                </a:solidFill>
                <a:latin typeface="Arial"/>
              </a:rPr>
              <a:t>Static road status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496312" y="3483864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→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788920" y="3429000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EEF7EF"/>
          </a:solidFill>
          <a:ln>
            <a:solidFill>
              <a:srgbClr val="CF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2898648" y="3483864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Arial"/>
              </a:rPr>
              <a:t>Flood-aware routing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4032504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FDF1F1"/>
          </a:solidFill>
          <a:ln>
            <a:solidFill>
              <a:srgbClr val="F0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04088" y="4087368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C62828"/>
                </a:solidFill>
                <a:latin typeface="Arial"/>
              </a:rPr>
              <a:t>City-wide warning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496312" y="4087368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→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788920" y="4032504"/>
            <a:ext cx="1874519" cy="457200"/>
          </a:xfrm>
          <a:prstGeom prst="roundRect">
            <a:avLst>
              <a:gd name="adj" fmla="val 12000"/>
            </a:avLst>
          </a:prstGeom>
          <a:solidFill>
            <a:srgbClr val="EEF7EF"/>
          </a:solidFill>
          <a:ln>
            <a:solidFill>
              <a:srgbClr val="CF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898648" y="4087368"/>
            <a:ext cx="16642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2E7D32"/>
                </a:solidFill>
                <a:latin typeface="Arial"/>
              </a:rPr>
              <a:t>Street / segment-level action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074920" y="1920240"/>
            <a:ext cx="306324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5074920" y="1920240"/>
            <a:ext cx="73152" cy="26060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5239512" y="2011680"/>
            <a:ext cx="28072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3555"/>
                </a:solidFill>
                <a:latin typeface="Arial"/>
              </a:rPr>
              <a:t>WHO BENEFITS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239512" y="2322576"/>
            <a:ext cx="2807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• Municipal flood managers
• Emergency services
• Traffic &amp; public transport
• Citizens &amp; businesses
• Urban planners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366760" y="192024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8366760" y="1920240"/>
            <a:ext cx="73152" cy="2606040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8531352" y="2011680"/>
            <a:ext cx="29900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3555"/>
                </a:solidFill>
                <a:latin typeface="Arial"/>
              </a:rPr>
              <a:t>WHAT WE MEASURE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531352" y="2322576"/>
            <a:ext cx="2990087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3"/>
                </a:solidFill>
                <a:latin typeface="Arial"/>
              </a:rPr>
              <a:t>• Warning lead time
• Flood-depth MAE / RMSE
• Inundation IoU / F1
• Affected-road coverage
• Route risk / detour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94360" y="4892040"/>
            <a:ext cx="1101852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822960" y="5020056"/>
            <a:ext cx="10561320" cy="429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CORE OUTCOME  →  Forecast water accumulation early enough to pre-position resources, reroute traffic, and warn people.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94360" y="5650992"/>
            <a:ext cx="110185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3"/>
                </a:solidFill>
                <a:latin typeface="Arial"/>
              </a:rPr>
              <a:t>All performance numbers are targets until validated on event-level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30352" y="1353312"/>
            <a:ext cx="11109960" cy="475488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58368" y="1463040"/>
            <a:ext cx="10835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60" b="1">
                <a:solidFill>
                  <a:srgbClr val="173555"/>
                </a:solidFill>
                <a:latin typeface="Arial"/>
              </a:rPr>
              <a:t>SIH26085  |  Ministry of Earth Sciences  |  Disaster Management  |  Software  |  Urban Flood Nowcasting System (Drainage and Rainfall Coupling)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205740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PROBLEM / DATA EVIDENCE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205740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METHOD / PRIOR ART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2414016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2414016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13232" y="2505456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SIH 2026 problem listing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13232" y="2816352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https://sih2026.vuce.in/ps/SIH26085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2980944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2980944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13232" y="3072384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Google Flood Hub – model scope &amp; urban flash flood beta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13232" y="3383280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support.google.com/flood-hub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3547872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48640" y="3547872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713232" y="3639312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ISRO / CWC River Basin Atlas &amp; water-resource datasets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13232" y="3950208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isro.gov.in / indiawris.gov.in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48640" y="4114800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548640" y="4114800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13232" y="4206240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USGS SRTM / global DEM data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13232" y="4517136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earthexplorer.usgs.gov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48640" y="4681728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548640" y="4681728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13232" y="4773168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OpenCity Chennai – stormwater drainage maps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13232" y="5084064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opencity.in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172200" y="2414016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172200" y="2414016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336792" y="2505456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EPA SWMM – drainage hydraulics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336792" y="2816352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github.com/USEPA/Stormwater-Management-Model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72200" y="2980944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2980944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336792" y="3072384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PySWMM – Python SWMM interface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336792" y="3383280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github.com/pyswmm/pyswmm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172200" y="3547872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6172200" y="3547872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336792" y="3639312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HybridUrb – hybrid urban flood modelling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36792" y="3950208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github.com/xldeltares/hybridurb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172200" y="4114800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6172200" y="4114800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336792" y="4206240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FloodGNN-GRU – spatio-temporal flood prediction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336792" y="4517136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2024 research literature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172200" y="4681728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ounded Rectangle 17450"/>
          <p:cNvSpPr/>
          <p:nvPr/>
        </p:nvSpPr>
        <p:spPr>
          <a:xfrm>
            <a:off x="6172200" y="4681728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6336792" y="4773168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GNN surrogate modelling – urban drainage hydraulics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336792" y="5084064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2024 Water Research literature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548640" y="5285232"/>
            <a:ext cx="10954512" cy="54864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94944" y="536752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173555"/>
                </a:solidFill>
                <a:latin typeface="Arial"/>
              </a:rPr>
              <a:t>Research basis from supplied project analysis: SCS Curve Number • Rational Method • Manning • SWMM • GNN drainage surrogates • cellular-automata surface routing.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48640" y="5897880"/>
            <a:ext cx="109545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5F6B73"/>
                </a:solidFill>
                <a:latin typeface="Arial"/>
              </a:rPr>
              <a:t>References/URLs are provided for verification; the deck does not claim unvalidated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